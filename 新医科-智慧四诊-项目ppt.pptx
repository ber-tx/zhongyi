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图片 1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-45720"/>
            <a:ext cx="1118235" cy="10166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3"/>
          <p:cNvSpPr/>
          <p:nvPr/>
        </p:nvSpPr>
        <p:spPr>
          <a:xfrm>
            <a:off x="1928495" y="1506220"/>
            <a:ext cx="8849360" cy="4045585"/>
          </a:xfrm>
          <a:prstGeom prst="roundRect">
            <a:avLst>
              <a:gd name="adj" fmla="val 4545"/>
            </a:avLst>
          </a:prstGeom>
          <a:solidFill>
            <a:srgbClr val="0A2A4E">
              <a:alpha val="33000"/>
            </a:srgbClr>
          </a:solidFill>
          <a:ln w="50800" cap="flat" cmpd="thinThick">
            <a:solidFill>
              <a:srgbClr val="D4AF37">
                <a:alpha val="95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2515235" y="1814830"/>
            <a:ext cx="7531735" cy="1781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4000" b="1" kern="0" dirty="0">
                <a:solidFill>
                  <a:srgbClr val="F0E68C"/>
                </a:solidFill>
                <a:effectLst>
                  <a:outerShdw blurRad="50800" dist="50800" dir="18900000" algn="bl" rotWithShape="0">
                    <a:srgbClr val="FFFF00">
                      <a:alpha val="4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Arial" panose="020B0604020202020204"/>
              </a:rPr>
              <a:t>智汇</a:t>
            </a:r>
            <a:r>
              <a:rPr lang="zh-CN" altLang="en-US" sz="14000" b="1" kern="0" dirty="0">
                <a:solidFill>
                  <a:srgbClr val="F0E68C"/>
                </a:solidFill>
                <a:effectLst>
                  <a:outerShdw blurRad="50800" dist="50800" dir="18900000" algn="bl" rotWithShape="0">
                    <a:srgbClr val="FFFF00">
                      <a:alpha val="4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Arial" panose="020B0604020202020204"/>
              </a:rPr>
              <a:t>四诊</a:t>
            </a:r>
            <a:endParaRPr lang="zh-CN" altLang="en-US" sz="14000" b="1" kern="0" dirty="0">
              <a:solidFill>
                <a:srgbClr val="F0E68C"/>
              </a:solidFill>
              <a:effectLst>
                <a:outerShdw blurRad="50800" dist="50800" dir="18900000" algn="bl" rotWithShape="0">
                  <a:srgbClr val="FFFF00">
                    <a:alpha val="40000"/>
                  </a:srgbClr>
                </a:outerShdw>
              </a:effectLst>
              <a:latin typeface="华文行楷" panose="02010800040101010101" pitchFamily="2" charset="-122"/>
              <a:ea typeface="华文行楷" panose="02010800040101010101" pitchFamily="2" charset="-122"/>
              <a:cs typeface="Arial" panose="020B060402020202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99310" y="3977640"/>
            <a:ext cx="8410575" cy="561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 kern="0" dirty="0">
                <a:solidFill>
                  <a:srgbClr val="F0E68C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  <a:cs typeface="Arial" panose="020B0604020202020204"/>
              </a:rPr>
              <a:t>—</a:t>
            </a:r>
            <a:r>
              <a:rPr lang="zh-CN" altLang="en-US" sz="3600" kern="0" dirty="0">
                <a:solidFill>
                  <a:srgbClr val="F0E68C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  <a:cs typeface="Arial" panose="020B0604020202020204"/>
              </a:rPr>
              <a:t>让中医诊断可量化、可复现、可传承</a:t>
            </a:r>
            <a:endParaRPr lang="zh-CN" altLang="en-US" sz="3600" kern="0" dirty="0">
              <a:solidFill>
                <a:srgbClr val="F0E68C"/>
              </a:solidFill>
              <a:effectLst/>
              <a:latin typeface="方正粗黑宋简体" panose="02000000000000000000" pitchFamily="2" charset="-122"/>
              <a:ea typeface="方正粗黑宋简体" panose="02000000000000000000" pitchFamily="2" charset="-122"/>
              <a:cs typeface="Arial" panose="020B060402020202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95215" y="4920615"/>
            <a:ext cx="30473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kern="0" dirty="0">
                <a:solidFill>
                  <a:srgbClr val="F0E68C"/>
                </a:solidFill>
                <a:effectLst/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rPr>
              <a:t> </a:t>
            </a:r>
            <a:r>
              <a:rPr lang="zh-CN" altLang="en-US" sz="2400" kern="0" dirty="0">
                <a:solidFill>
                  <a:srgbClr val="F0E68C"/>
                </a:solidFill>
                <a:effectLst/>
                <a:latin typeface="汉仪雅酷黑简" panose="00020600040101010101" charset="-122"/>
                <a:ea typeface="汉仪雅酷黑简" panose="00020600040101010101" charset="-122"/>
                <a:cs typeface="汉仪雅酷黑简" panose="00020600040101010101" charset="-122"/>
              </a:rPr>
              <a:t>谢谢各位评委老师</a:t>
            </a:r>
            <a:r>
              <a:rPr lang="zh-CN" altLang="en-US" sz="2400" kern="0" dirty="0">
                <a:solidFill>
                  <a:srgbClr val="F0E68C"/>
                </a:solidFill>
                <a:effectLst/>
                <a:latin typeface="方正粗黑宋简体" panose="02000000000000000000" pitchFamily="2" charset="-122"/>
                <a:ea typeface="方正粗黑宋简体" panose="02000000000000000000" pitchFamily="2" charset="-122"/>
                <a:cs typeface="Arial" panose="020B0604020202020204"/>
              </a:rPr>
              <a:t>！</a:t>
            </a:r>
            <a:endParaRPr lang="zh-CN" altLang="en-US" sz="2400" kern="0" dirty="0">
              <a:solidFill>
                <a:srgbClr val="F0E68C"/>
              </a:solidFill>
              <a:effectLst/>
              <a:latin typeface="方正粗黑宋简体" panose="02000000000000000000" pitchFamily="2" charset="-122"/>
              <a:ea typeface="方正粗黑宋简体" panose="02000000000000000000" pitchFamily="2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build="allAtOnce"/>
      <p:bldP spid="6" grpId="1"/>
      <p:bldP spid="7" grpId="0" bldLvl="0" build="allAtOnce"/>
      <p:bldP spid="7" grpId="1"/>
      <p:bldP spid="8" grpId="0" bldLvl="0" build="allAtOnce"/>
      <p:bldP spid="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6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华文行楷</vt:lpstr>
      <vt:lpstr>Arial</vt:lpstr>
      <vt:lpstr>方正粗黑宋简体</vt:lpstr>
      <vt:lpstr>汉仪雅酷黑简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crc45</dc:creator>
  <cp:lastModifiedBy>WPS_1642929485</cp:lastModifiedBy>
  <cp:revision>162</cp:revision>
  <dcterms:created xsi:type="dcterms:W3CDTF">2019-06-19T02:08:00Z</dcterms:created>
  <dcterms:modified xsi:type="dcterms:W3CDTF">2026-06-11T15:27:14Z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77B0F6CFC5B240EE91516936430A4200_13</vt:lpwstr>
  </property>
</Properties>
</file>